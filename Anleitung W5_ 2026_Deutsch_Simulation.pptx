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71" r:id="rId10"/>
    <p:sldId id="261" r:id="rId11"/>
    <p:sldId id="262" r:id="rId12"/>
    <p:sldId id="263" r:id="rId13"/>
    <p:sldId id="272" r:id="rId14"/>
    <p:sldId id="273" r:id="rId15"/>
    <p:sldId id="266" r:id="rId16"/>
    <p:sldId id="267" r:id="rId17"/>
    <p:sldId id="268" r:id="rId18"/>
    <p:sldId id="269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94752"/>
  </p:normalViewPr>
  <p:slideViewPr>
    <p:cSldViewPr snapToGrid="0">
      <p:cViewPr varScale="1">
        <p:scale>
          <a:sx n="33" d="100"/>
          <a:sy n="33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Konnte den Fehler mit „Verbindung konnte nicht hergestellt werden“ nicht mehr replizieren -&gt; Darum noch alter Screenshot</a:t>
            </a:r>
          </a:p>
        </p:txBody>
      </p:sp>
    </p:spTree>
    <p:extLst>
      <p:ext uri="{BB962C8B-B14F-4D97-AF65-F5344CB8AC3E}">
        <p14:creationId xmlns:p14="http://schemas.microsoft.com/office/powerpoint/2010/main" val="168459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Autor:in und Datum</a:t>
            </a:r>
          </a:p>
        </p:txBody>
      </p:sp>
      <p:sp>
        <p:nvSpPr>
          <p:cNvPr id="12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Titel der Präsentation</a:t>
            </a:r>
          </a:p>
        </p:txBody>
      </p:sp>
      <p:sp>
        <p:nvSpPr>
          <p:cNvPr id="13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chüssel mit Lachsfrikadellen, Salat u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Folientitel</a:t>
            </a:r>
          </a:p>
        </p:txBody>
      </p:sp>
      <p:sp>
        <p:nvSpPr>
          <p:cNvPr id="34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Folien-Untertitel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lientitel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Folientitel</a:t>
            </a:r>
          </a:p>
        </p:txBody>
      </p:sp>
      <p:sp>
        <p:nvSpPr>
          <p:cNvPr id="43" name="Folien-Unt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Folien-Untertitel</a:t>
            </a:r>
          </a:p>
        </p:txBody>
      </p:sp>
      <p:sp>
        <p:nvSpPr>
          <p:cNvPr id="44" name="Textebene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ebene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olien-Unt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Folien-Untertitel</a:t>
            </a:r>
          </a:p>
        </p:txBody>
      </p:sp>
      <p:sp>
        <p:nvSpPr>
          <p:cNvPr id="61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chüssel mit Pappardelle, Petersilienbutter, gerösteten Haselnüssen und geriebenem Parmesan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Folientitel</a:t>
            </a:r>
          </a:p>
        </p:txBody>
      </p:sp>
      <p:sp>
        <p:nvSpPr>
          <p:cNvPr id="6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el des Abschnitts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Titel des Abschnitts</a:t>
            </a:r>
          </a:p>
        </p:txBody>
      </p:sp>
      <p:sp>
        <p:nvSpPr>
          <p:cNvPr id="7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Folientitel</a:t>
            </a:r>
          </a:p>
        </p:txBody>
      </p:sp>
      <p:sp>
        <p:nvSpPr>
          <p:cNvPr id="80" name="Folien-Unt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Folien-Untertitel</a:t>
            </a:r>
          </a:p>
        </p:txBody>
      </p:sp>
      <p:sp>
        <p:nvSpPr>
          <p:cNvPr id="8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-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Agenda-Titel</a:t>
            </a:r>
          </a:p>
        </p:txBody>
      </p:sp>
      <p:sp>
        <p:nvSpPr>
          <p:cNvPr id="89" name="Agenda-Unt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Agenda-Untertitel</a:t>
            </a:r>
          </a:p>
        </p:txBody>
      </p:sp>
      <p:sp>
        <p:nvSpPr>
          <p:cNvPr id="90" name="Textebene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Agendathemen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Aufstellung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k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kte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Fakten</a:t>
            </a:r>
          </a:p>
        </p:txBody>
      </p:sp>
      <p:sp>
        <p:nvSpPr>
          <p:cNvPr id="10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Quellenangab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Quellenangabe</a:t>
            </a:r>
          </a:p>
        </p:txBody>
      </p:sp>
      <p:sp>
        <p:nvSpPr>
          <p:cNvPr id="116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„Bemerkenswert“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alatschüssel mit gebratenem Reis, gekochten Eiern und Stäbchen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Schüssel mit Lachsfrikadellen, Salat u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Schüssel mit Pappardelle, Petersilienbutter, gerösteten Haselnüssen und geriebenem Parmesan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alatschüssel mit gebratenem Reis, gekochten Eiern und Stäbchen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Folientitel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martlearn.gymneufeld.site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laudio Brasse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19" rIns="45719" bIns="45719" anchor="t">
            <a:normAutofit lnSpcReduction="10000"/>
          </a:bodyPr>
          <a:lstStyle/>
          <a:p>
            <a:endParaRPr lang="de-DE"/>
          </a:p>
        </p:txBody>
      </p:sp>
      <p:sp>
        <p:nvSpPr>
          <p:cNvPr id="152" name="Matura-Aufsatz mit Smartlearn"/>
          <p:cNvSpPr txBox="1">
            <a:spLocks noGrp="1"/>
          </p:cNvSpPr>
          <p:nvPr>
            <p:ph type="ctrTitle"/>
          </p:nvPr>
        </p:nvSpPr>
        <p:spPr>
          <a:xfrm>
            <a:off x="1206495" y="2574991"/>
            <a:ext cx="22397783" cy="464820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Aufsatz</a:t>
            </a:r>
            <a:r>
              <a:rPr dirty="0"/>
              <a:t> </a:t>
            </a:r>
            <a:r>
              <a:rPr dirty="0" err="1"/>
              <a:t>mit</a:t>
            </a:r>
            <a:r>
              <a:rPr lang="en-US" dirty="0">
                <a:latin typeface="+mj-lt"/>
              </a:rPr>
              <a:t> «</a:t>
            </a:r>
            <a:r>
              <a:rPr lang="en-US" dirty="0" err="1">
                <a:latin typeface="+mj-lt"/>
              </a:rPr>
              <a:t>smartlearn</a:t>
            </a:r>
            <a:r>
              <a:rPr lang="en-US" dirty="0">
                <a:latin typeface="+mj-lt"/>
              </a:rPr>
              <a:t>»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1. Smartlearn aufruf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t>1. </a:t>
            </a:r>
            <a:r>
              <a:rPr lang="en-US"/>
              <a:t>«</a:t>
            </a:r>
            <a:r>
              <a:rPr lang="en-US" err="1"/>
              <a:t>smartlearn</a:t>
            </a:r>
            <a:r>
              <a:rPr lang="en-US">
                <a:latin typeface="Frutiger LT 45 Light" panose="020B0403030504020204" pitchFamily="34" charset="0"/>
              </a:rPr>
              <a:t>»</a:t>
            </a:r>
            <a:r>
              <a:t> </a:t>
            </a:r>
            <a:r>
              <a:rPr err="1"/>
              <a:t>aufrufen</a:t>
            </a:r>
            <a:endParaRPr lang="en-US"/>
          </a:p>
        </p:txBody>
      </p:sp>
      <p:sp>
        <p:nvSpPr>
          <p:cNvPr id="155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Öffnen Sie den Google Chrome Browser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16292466" cy="8256012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dirty="0" err="1"/>
              <a:t>Öffnen</a:t>
            </a:r>
            <a:r>
              <a:rPr dirty="0"/>
              <a:t> Sie den </a:t>
            </a:r>
            <a:r>
              <a:rPr b="1" dirty="0"/>
              <a:t>Google Chrome</a:t>
            </a:r>
            <a:r>
              <a:rPr dirty="0"/>
              <a:t> Browser</a:t>
            </a:r>
            <a:r>
              <a:rPr lang="de-DE" dirty="0"/>
              <a:t>.</a:t>
            </a:r>
            <a:endParaRPr dirty="0"/>
          </a:p>
          <a:p>
            <a:r>
              <a:rPr dirty="0"/>
              <a:t>Rufen Sie die </a:t>
            </a:r>
            <a:r>
              <a:rPr lang="en-US" dirty="0"/>
              <a:t>«</a:t>
            </a:r>
            <a:r>
              <a:rPr lang="en-US" dirty="0" err="1"/>
              <a:t>smartlearn</a:t>
            </a:r>
            <a:r>
              <a:rPr lang="en-US" dirty="0">
                <a:latin typeface="Frutiger LT 45 Light" panose="020B0403030504020204" pitchFamily="34" charset="0"/>
              </a:rPr>
              <a:t>»</a:t>
            </a:r>
            <a:r>
              <a:rPr dirty="0"/>
              <a:t> </a:t>
            </a:r>
            <a:r>
              <a:rPr dirty="0" err="1"/>
              <a:t>Webseite</a:t>
            </a:r>
            <a:r>
              <a:rPr dirty="0"/>
              <a:t> auf:</a:t>
            </a:r>
          </a:p>
          <a:p>
            <a:pPr marL="609600" lvl="1" indent="0">
              <a:buNone/>
            </a:pPr>
            <a:r>
              <a:rPr u="sng" dirty="0">
                <a:hlinkClick r:id="rId2"/>
              </a:rPr>
              <a:t>https://smartlearn.gymneufeld.site</a:t>
            </a:r>
          </a:p>
          <a:p>
            <a:r>
              <a:rPr b="1" dirty="0"/>
              <a:t>Achtung: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Achten Sie auf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korrekte</a:t>
            </a:r>
            <a:r>
              <a:rPr lang="en-US" dirty="0"/>
              <a:t> </a:t>
            </a:r>
            <a:r>
              <a:rPr lang="en-US" dirty="0" err="1"/>
              <a:t>Eingabe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Die </a:t>
            </a:r>
            <a:r>
              <a:rPr lang="en-US" dirty="0" err="1"/>
              <a:t>Seite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WLAN </a:t>
            </a:r>
            <a:r>
              <a:rPr lang="en-US" dirty="0" err="1"/>
              <a:t>aufrufbar</a:t>
            </a:r>
            <a:r>
              <a:rPr lang="en-US" dirty="0"/>
              <a:t>!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2. Anmeldu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2. Anmeldung</a:t>
            </a:r>
          </a:p>
        </p:txBody>
      </p:sp>
      <p:sp>
        <p:nvSpPr>
          <p:cNvPr id="159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" name="Melden Sie sich mit Ihren Schuldaten an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dirty="0" err="1"/>
              <a:t>Melden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Ihren</a:t>
            </a:r>
            <a:r>
              <a:rPr dirty="0"/>
              <a:t> </a:t>
            </a:r>
            <a:r>
              <a:rPr dirty="0" err="1"/>
              <a:t>Schuldaten</a:t>
            </a:r>
            <a:r>
              <a:rPr dirty="0"/>
              <a:t> an:</a:t>
            </a:r>
          </a:p>
          <a:p>
            <a:pPr lvl="1"/>
            <a:r>
              <a:rPr lang="en-US" dirty="0" err="1"/>
              <a:t>Vollständige</a:t>
            </a:r>
            <a:r>
              <a:rPr dirty="0"/>
              <a:t> E-Mail </a:t>
            </a:r>
            <a:r>
              <a:rPr dirty="0" err="1"/>
              <a:t>Adresse</a:t>
            </a:r>
            <a:endParaRPr dirty="0"/>
          </a:p>
          <a:p>
            <a:pPr lvl="1"/>
            <a:r>
              <a:rPr dirty="0" err="1"/>
              <a:t>Ihr</a:t>
            </a:r>
            <a:r>
              <a:rPr dirty="0"/>
              <a:t> </a:t>
            </a:r>
            <a:r>
              <a:rPr lang="de-CH" dirty="0"/>
              <a:t>übliches</a:t>
            </a:r>
            <a:r>
              <a:rPr dirty="0"/>
              <a:t> </a:t>
            </a:r>
            <a:r>
              <a:rPr dirty="0" err="1"/>
              <a:t>Passwort</a:t>
            </a:r>
            <a:r>
              <a:rPr lang="en-US" dirty="0"/>
              <a:t> </a:t>
            </a:r>
            <a:endParaRPr dirty="0"/>
          </a:p>
        </p:txBody>
      </p:sp>
      <p:pic>
        <p:nvPicPr>
          <p:cNvPr id="161" name="Bild" descr="Bi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797" y="556985"/>
            <a:ext cx="8032083" cy="797669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3. Probe Aufruf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3. Probe </a:t>
            </a:r>
            <a:r>
              <a:rPr lang="de-DE"/>
              <a:t>a</a:t>
            </a:r>
            <a:r>
              <a:rPr err="1"/>
              <a:t>ufrufen</a:t>
            </a:r>
            <a:endParaRPr/>
          </a:p>
        </p:txBody>
      </p:sp>
      <p:sp>
        <p:nvSpPr>
          <p:cNvPr id="164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Klicken Sie auf die rötliche Schaltfläche für den Aufsatz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err="1"/>
              <a:t>Klicken</a:t>
            </a:r>
            <a:r>
              <a:t> Sie auf die </a:t>
            </a:r>
            <a:r>
              <a:rPr err="1"/>
              <a:t>rötliche</a:t>
            </a:r>
            <a:r>
              <a:t> </a:t>
            </a:r>
            <a:r>
              <a:rPr err="1"/>
              <a:t>Schaltfläche</a:t>
            </a:r>
            <a:r>
              <a:rPr lang="en-US"/>
              <a:t>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09F58A-8C00-D80A-1638-2B15C5FF6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303" y="5189267"/>
            <a:ext cx="13834399" cy="82560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E42BB01B-FFB0-DC01-547E-333C74AC00F3}"/>
              </a:ext>
            </a:extLst>
          </p:cNvPr>
          <p:cNvSpPr/>
          <p:nvPr/>
        </p:nvSpPr>
        <p:spPr>
          <a:xfrm rot="10310601">
            <a:off x="16896604" y="10517793"/>
            <a:ext cx="4125951" cy="53525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4. Safe Exam Browser start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4. Safe Exam Browser starten</a:t>
            </a:r>
          </a:p>
        </p:txBody>
      </p:sp>
      <p:sp>
        <p:nvSpPr>
          <p:cNvPr id="170" name="Klicken Sie auf die Schaltfläche “SEB starten”.…"/>
          <p:cNvSpPr txBox="1">
            <a:spLocks noGrp="1"/>
          </p:cNvSpPr>
          <p:nvPr>
            <p:ph type="body" idx="1"/>
          </p:nvPr>
        </p:nvSpPr>
        <p:spPr>
          <a:xfrm>
            <a:off x="1206500" y="2729994"/>
            <a:ext cx="22367178" cy="8256012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dirty="0" err="1"/>
              <a:t>Klicken</a:t>
            </a:r>
            <a:r>
              <a:rPr dirty="0"/>
              <a:t> Sie auf die </a:t>
            </a:r>
            <a:r>
              <a:rPr dirty="0" err="1"/>
              <a:t>Schaltfläche</a:t>
            </a:r>
            <a:r>
              <a:rPr dirty="0"/>
              <a:t> </a:t>
            </a:r>
            <a:r>
              <a:rPr lang="de-CH" dirty="0"/>
              <a:t>«</a:t>
            </a:r>
            <a:r>
              <a:rPr dirty="0"/>
              <a:t>SEB </a:t>
            </a:r>
            <a:r>
              <a:rPr dirty="0" err="1"/>
              <a:t>starten</a:t>
            </a:r>
            <a:r>
              <a:rPr lang="de-CH" dirty="0">
                <a:latin typeface="Frutiger LT 45 Light"/>
              </a:rPr>
              <a:t>»</a:t>
            </a:r>
            <a:r>
              <a:rPr dirty="0"/>
              <a:t>.</a:t>
            </a:r>
          </a:p>
          <a:p>
            <a:r>
              <a:rPr b="1" dirty="0" err="1"/>
              <a:t>Hinweis</a:t>
            </a:r>
            <a:r>
              <a:rPr b="1" dirty="0"/>
              <a:t>: </a:t>
            </a:r>
            <a:r>
              <a:rPr dirty="0"/>
              <a:t>Der </a:t>
            </a:r>
            <a:r>
              <a:rPr dirty="0" err="1"/>
              <a:t>Hinweis</a:t>
            </a:r>
            <a:r>
              <a:rPr dirty="0"/>
              <a:t> </a:t>
            </a:r>
            <a:r>
              <a:rPr lang="de-CH" dirty="0"/>
              <a:t>«</a:t>
            </a:r>
            <a:r>
              <a:rPr dirty="0"/>
              <a:t>Safe Exam Browser </a:t>
            </a:r>
            <a:r>
              <a:rPr dirty="0" err="1"/>
              <a:t>benötigt</a:t>
            </a:r>
            <a:r>
              <a:rPr lang="de-CH" dirty="0">
                <a:latin typeface="Frutiger LT 45 Light"/>
              </a:rPr>
              <a:t>»</a:t>
            </a:r>
            <a:r>
              <a:rPr dirty="0"/>
              <a:t> </a:t>
            </a:r>
            <a:r>
              <a:rPr dirty="0" err="1"/>
              <a:t>erscheint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Sie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installiert</a:t>
            </a:r>
            <a:r>
              <a:rPr dirty="0"/>
              <a:t> </a:t>
            </a:r>
            <a:r>
              <a:rPr dirty="0" err="1"/>
              <a:t>haben</a:t>
            </a:r>
            <a:r>
              <a:rPr lang="en-US" dirty="0"/>
              <a:t>.</a:t>
            </a:r>
            <a:r>
              <a:rPr dirty="0"/>
              <a:t> Sie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ignorieren</a:t>
            </a:r>
            <a:r>
              <a:rPr dirty="0"/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BCE062-A25E-E852-0BAE-34F0D1434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816" y="5646960"/>
            <a:ext cx="17984368" cy="786661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9406EB86-55E8-7490-7320-451C9527BD07}"/>
              </a:ext>
            </a:extLst>
          </p:cNvPr>
          <p:cNvSpPr/>
          <p:nvPr/>
        </p:nvSpPr>
        <p:spPr>
          <a:xfrm rot="2170887">
            <a:off x="6438554" y="11270302"/>
            <a:ext cx="4125951" cy="53525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0CC87D-DA1C-C395-E2F7-87E10190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de-DE"/>
              <a:t>5. Prüfung starten (1)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F3BBD0-0121-C3C6-8222-C0BA85D5CD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4E30A7-02FD-7B4B-7542-C4CBD6496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de-DE" dirty="0"/>
              <a:t>Klicken Sie auf «Starten</a:t>
            </a:r>
            <a:r>
              <a:rPr lang="de-DE" dirty="0">
                <a:latin typeface="Frutiger LT 45 Light"/>
              </a:rPr>
              <a:t>»</a:t>
            </a:r>
            <a:r>
              <a:rPr lang="de-DE" dirty="0">
                <a:latin typeface="Helvetica Neue"/>
              </a:rPr>
              <a:t>.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8CE6410-D5C4-73F3-0463-1A3696241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336" y="4922792"/>
            <a:ext cx="17468075" cy="85224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C8028779-0290-8E13-58A1-537D36BA82A0}"/>
              </a:ext>
            </a:extLst>
          </p:cNvPr>
          <p:cNvSpPr/>
          <p:nvPr/>
        </p:nvSpPr>
        <p:spPr>
          <a:xfrm rot="2170887">
            <a:off x="9672409" y="10803004"/>
            <a:ext cx="4125951" cy="53525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074350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5. Prüfung start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t>5. Prüfung starten</a:t>
            </a:r>
            <a:r>
              <a:rPr lang="de-DE"/>
              <a:t> (2)</a:t>
            </a:r>
          </a:p>
        </p:txBody>
      </p:sp>
      <p:sp>
        <p:nvSpPr>
          <p:cNvPr id="174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5" name="Warten Sie, bis die virtuelle Umgebung rechts im Bild geladen wurde…"/>
          <p:cNvSpPr txBox="1">
            <a:spLocks noGrp="1"/>
          </p:cNvSpPr>
          <p:nvPr>
            <p:ph type="body" idx="1"/>
          </p:nvPr>
        </p:nvSpPr>
        <p:spPr>
          <a:xfrm>
            <a:off x="1206500" y="3530009"/>
            <a:ext cx="21971000" cy="8974507"/>
          </a:xfrm>
          <a:prstGeom prst="rect">
            <a:avLst/>
          </a:prstGeom>
        </p:spPr>
        <p:txBody>
          <a:bodyPr/>
          <a:lstStyle/>
          <a:p>
            <a:r>
              <a:rPr dirty="0"/>
              <a:t>Warten Sie, bis die </a:t>
            </a:r>
            <a:r>
              <a:rPr dirty="0" err="1"/>
              <a:t>virtuelle</a:t>
            </a:r>
            <a:r>
              <a:rPr dirty="0"/>
              <a:t> </a:t>
            </a:r>
            <a:r>
              <a:rPr dirty="0" err="1"/>
              <a:t>Umgebung</a:t>
            </a:r>
            <a:r>
              <a:rPr dirty="0"/>
              <a:t>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Bild </a:t>
            </a:r>
            <a:r>
              <a:rPr dirty="0" err="1"/>
              <a:t>geladen</a:t>
            </a:r>
            <a:r>
              <a:rPr dirty="0"/>
              <a:t> w</a:t>
            </a:r>
            <a:r>
              <a:rPr lang="de-DE" dirty="0" err="1"/>
              <a:t>orden</a:t>
            </a:r>
            <a:r>
              <a:rPr lang="de-DE" dirty="0"/>
              <a:t> ist.</a:t>
            </a:r>
            <a:endParaRPr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dirty="0"/>
              <a:t>Falls </a:t>
            </a:r>
            <a:r>
              <a:rPr dirty="0" err="1"/>
              <a:t>ein</a:t>
            </a:r>
            <a:r>
              <a:rPr dirty="0"/>
              <a:t> Fehler </a:t>
            </a:r>
            <a:r>
              <a:rPr dirty="0" err="1"/>
              <a:t>angezeigt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wählen</a:t>
            </a:r>
            <a:r>
              <a:rPr dirty="0"/>
              <a:t> Sie </a:t>
            </a:r>
            <a:r>
              <a:rPr lang="de-CH" dirty="0"/>
              <a:t>«</a:t>
            </a:r>
            <a:r>
              <a:rPr dirty="0" err="1"/>
              <a:t>neuer</a:t>
            </a:r>
            <a:r>
              <a:rPr dirty="0"/>
              <a:t> </a:t>
            </a:r>
            <a:r>
              <a:rPr dirty="0" err="1"/>
              <a:t>Verbindungsversuch</a:t>
            </a:r>
            <a:r>
              <a:rPr lang="de-CH" dirty="0">
                <a:latin typeface="Frutiger LT 45 Light" panose="020B0403030504020204" pitchFamily="34" charset="0"/>
              </a:rPr>
              <a:t>»</a:t>
            </a:r>
            <a:r>
              <a:rPr dirty="0"/>
              <a:t>. </a:t>
            </a:r>
          </a:p>
        </p:txBody>
      </p:sp>
      <p:pic>
        <p:nvPicPr>
          <p:cNvPr id="177" name="Bild" descr="Bild"/>
          <p:cNvPicPr>
            <a:picLocks noChangeAspect="1"/>
          </p:cNvPicPr>
          <p:nvPr/>
        </p:nvPicPr>
        <p:blipFill>
          <a:blip r:embed="rId3"/>
          <a:srcRect l="24623" t="32725"/>
          <a:stretch>
            <a:fillRect/>
          </a:stretch>
        </p:blipFill>
        <p:spPr>
          <a:xfrm>
            <a:off x="2027174" y="7786282"/>
            <a:ext cx="3746047" cy="5882777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5EB4F46-7118-C128-A0BD-B7B497DA2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5629" y="4256978"/>
            <a:ext cx="4822593" cy="289355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B5E9AA5-9C1F-A5C8-2AC0-C06B745D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051" y="4381497"/>
            <a:ext cx="15713927" cy="8906449"/>
          </a:xfrm>
          <a:prstGeom prst="rect">
            <a:avLst/>
          </a:prstGeom>
        </p:spPr>
      </p:pic>
      <p:sp>
        <p:nvSpPr>
          <p:cNvPr id="179" name="6. In Vollbildmodus wechsel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6. In Vollbildmodus wechseln</a:t>
            </a:r>
          </a:p>
        </p:txBody>
      </p:sp>
      <p:sp>
        <p:nvSpPr>
          <p:cNvPr id="180" name="Klicken Sie auf das “Vergrösserungs-Icon” um in den Vollbildmodus zu wechseln:"/>
          <p:cNvSpPr txBox="1">
            <a:spLocks noGrp="1"/>
          </p:cNvSpPr>
          <p:nvPr>
            <p:ph type="body" idx="1"/>
          </p:nvPr>
        </p:nvSpPr>
        <p:spPr>
          <a:xfrm>
            <a:off x="1206500" y="3296093"/>
            <a:ext cx="21971000" cy="9208423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err="1"/>
              <a:t>Klicken</a:t>
            </a:r>
            <a:r>
              <a:t> Sie auf das </a:t>
            </a:r>
            <a:r>
              <a:rPr lang="de-CH"/>
              <a:t>«</a:t>
            </a:r>
            <a:r>
              <a:rPr err="1"/>
              <a:t>Vergrösserungs</a:t>
            </a:r>
            <a:r>
              <a:t>-Icon</a:t>
            </a:r>
            <a:r>
              <a:rPr lang="de-CH">
                <a:latin typeface="Frutiger LT 45 Light"/>
              </a:rPr>
              <a:t>»,</a:t>
            </a:r>
            <a:r>
              <a:t> um in den </a:t>
            </a:r>
            <a:r>
              <a:rPr err="1"/>
              <a:t>Vollbildmodus</a:t>
            </a:r>
            <a:r>
              <a:t> </a:t>
            </a:r>
            <a:r>
              <a:rPr err="1"/>
              <a:t>zu</a:t>
            </a:r>
            <a:r>
              <a:t> </a:t>
            </a:r>
            <a:r>
              <a:rPr err="1"/>
              <a:t>wechseln</a:t>
            </a:r>
            <a:r>
              <a:t>:</a:t>
            </a:r>
          </a:p>
        </p:txBody>
      </p:sp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A4B1C735-3E8B-B9AD-D2E6-67028E011325}"/>
              </a:ext>
            </a:extLst>
          </p:cNvPr>
          <p:cNvSpPr/>
          <p:nvPr/>
        </p:nvSpPr>
        <p:spPr>
          <a:xfrm rot="18050265">
            <a:off x="19944012" y="9898018"/>
            <a:ext cx="4125951" cy="53525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7A12430-522B-6183-E7E0-24FFD224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742" y="1975752"/>
            <a:ext cx="19436258" cy="11740248"/>
          </a:xfrm>
          <a:prstGeom prst="rect">
            <a:avLst/>
          </a:prstGeom>
        </p:spPr>
      </p:pic>
      <p:sp>
        <p:nvSpPr>
          <p:cNvPr id="183" name="7. Word start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7. Word starten</a:t>
            </a:r>
          </a:p>
        </p:txBody>
      </p:sp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446A71B9-2F02-527C-15BD-6501C2F218C3}"/>
              </a:ext>
            </a:extLst>
          </p:cNvPr>
          <p:cNvSpPr/>
          <p:nvPr/>
        </p:nvSpPr>
        <p:spPr>
          <a:xfrm rot="18365095">
            <a:off x="2846970" y="7304058"/>
            <a:ext cx="3007130" cy="518293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428AF9F-7437-9B23-403F-F78DE2587392}"/>
              </a:ext>
            </a:extLst>
          </p:cNvPr>
          <p:cNvSpPr txBox="1"/>
          <p:nvPr/>
        </p:nvSpPr>
        <p:spPr>
          <a:xfrm>
            <a:off x="155502" y="8488851"/>
            <a:ext cx="5843239" cy="14568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Doppelklick auf „Word“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28A22-2F23-DE38-8884-15D09F2B5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8. Neues </a:t>
            </a:r>
            <a:r>
              <a:rPr lang="en-US" err="1"/>
              <a:t>Dokument</a:t>
            </a:r>
            <a:r>
              <a:rPr lang="en-US"/>
              <a:t> </a:t>
            </a:r>
            <a:r>
              <a:rPr lang="en-US" err="1"/>
              <a:t>erstellen</a:t>
            </a:r>
            <a:r>
              <a:rPr lang="en-US"/>
              <a:t> und </a:t>
            </a:r>
            <a:r>
              <a:rPr lang="en-US" err="1"/>
              <a:t>speichern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9894C-652B-1B8F-08BF-F5C2A9BD6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1762733"/>
            <a:ext cx="21717295" cy="5199267"/>
          </a:xfrm>
        </p:spPr>
        <p:txBody>
          <a:bodyPr lIns="50800" tIns="50800" rIns="50800" bIns="50800" anchor="t">
            <a:normAutofit/>
          </a:bodyPr>
          <a:lstStyle/>
          <a:p>
            <a:pPr marL="0" indent="0">
              <a:buNone/>
            </a:pPr>
            <a:endParaRPr lang="en-US" dirty="0">
              <a:latin typeface="Helvetica Neue"/>
              <a:cs typeface="Arial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Helvetica Neue"/>
                <a:cs typeface="Arial"/>
              </a:rPr>
              <a:t>Erstellen</a:t>
            </a:r>
            <a:r>
              <a:rPr lang="en-US" dirty="0">
                <a:latin typeface="Helvetica Neue"/>
                <a:cs typeface="Arial"/>
              </a:rPr>
              <a:t> Sie </a:t>
            </a:r>
            <a:r>
              <a:rPr lang="en-US" dirty="0" err="1">
                <a:latin typeface="Helvetica Neue"/>
                <a:cs typeface="Arial"/>
              </a:rPr>
              <a:t>ein</a:t>
            </a:r>
            <a:r>
              <a:rPr lang="en-US" dirty="0">
                <a:latin typeface="Helvetica Neue"/>
                <a:cs typeface="Arial"/>
              </a:rPr>
              <a:t> </a:t>
            </a:r>
            <a:r>
              <a:rPr lang="en-US" dirty="0" err="1">
                <a:latin typeface="Helvetica Neue"/>
                <a:cs typeface="Arial"/>
              </a:rPr>
              <a:t>leeres</a:t>
            </a:r>
            <a:r>
              <a:rPr lang="en-US" dirty="0">
                <a:latin typeface="Helvetica Neue"/>
                <a:cs typeface="Arial"/>
              </a:rPr>
              <a:t> </a:t>
            </a:r>
            <a:r>
              <a:rPr lang="en-US" dirty="0" err="1">
                <a:latin typeface="Helvetica Neue"/>
                <a:cs typeface="Arial"/>
              </a:rPr>
              <a:t>Dokument</a:t>
            </a:r>
            <a:r>
              <a:rPr lang="en-US" dirty="0">
                <a:latin typeface="Helvetica Neue"/>
                <a:cs typeface="Arial"/>
              </a:rPr>
              <a:t> und </a:t>
            </a:r>
            <a:r>
              <a:rPr lang="en-US" dirty="0" err="1">
                <a:latin typeface="Helvetica Neue"/>
                <a:cs typeface="Arial"/>
              </a:rPr>
              <a:t>speichern</a:t>
            </a:r>
            <a:r>
              <a:rPr lang="en-US" dirty="0">
                <a:latin typeface="Helvetica Neue"/>
                <a:cs typeface="Arial"/>
              </a:rPr>
              <a:t> Sie dieses </a:t>
            </a:r>
            <a:r>
              <a:rPr lang="en-US" dirty="0" err="1">
                <a:latin typeface="Helvetica Neue"/>
                <a:cs typeface="Arial"/>
              </a:rPr>
              <a:t>unter</a:t>
            </a:r>
            <a:r>
              <a:rPr lang="en-US" dirty="0">
                <a:latin typeface="Helvetica Neue"/>
                <a:cs typeface="Arial"/>
              </a:rPr>
              <a:t> dem Namen </a:t>
            </a:r>
            <a:r>
              <a:rPr lang="en-US" b="1" dirty="0">
                <a:highlight>
                  <a:srgbClr val="FFFF00"/>
                </a:highlight>
                <a:latin typeface="Helvetica Neue"/>
                <a:cs typeface="Arial"/>
              </a:rPr>
              <a:t>Simulation_Deutsch_2026</a:t>
            </a:r>
            <a:r>
              <a:rPr lang="en-US" dirty="0">
                <a:latin typeface="Helvetica Neue"/>
                <a:cs typeface="Arial"/>
              </a:rPr>
              <a:t> </a:t>
            </a:r>
            <a:r>
              <a:rPr lang="en-US" dirty="0" err="1">
                <a:latin typeface="Helvetica Neue"/>
                <a:cs typeface="Arial"/>
              </a:rPr>
              <a:t>im</a:t>
            </a:r>
            <a:r>
              <a:rPr lang="en-US" dirty="0">
                <a:latin typeface="Helvetica Neue"/>
                <a:cs typeface="Arial"/>
              </a:rPr>
              <a:t> Ordner </a:t>
            </a:r>
            <a:r>
              <a:rPr lang="en-US" b="1" dirty="0" err="1">
                <a:highlight>
                  <a:srgbClr val="FFFF00"/>
                </a:highlight>
                <a:latin typeface="Helvetica Neue"/>
                <a:cs typeface="Arial"/>
              </a:rPr>
              <a:t>Abgabe</a:t>
            </a:r>
            <a:r>
              <a:rPr lang="en-US" dirty="0">
                <a:latin typeface="Helvetica Neue"/>
                <a:cs typeface="Arial"/>
              </a:rPr>
              <a:t>.</a:t>
            </a:r>
          </a:p>
          <a:p>
            <a:pPr>
              <a:buFont typeface="Arial"/>
              <a:buChar char="•"/>
            </a:pPr>
            <a:r>
              <a:rPr lang="en-US" dirty="0">
                <a:latin typeface="Helvetica Neue"/>
                <a:cs typeface="Arial"/>
              </a:rPr>
              <a:t>Gehen Sie </a:t>
            </a:r>
            <a:r>
              <a:rPr lang="en-US" dirty="0" err="1">
                <a:latin typeface="Helvetica Neue"/>
                <a:cs typeface="Arial"/>
              </a:rPr>
              <a:t>wie</a:t>
            </a:r>
            <a:r>
              <a:rPr lang="en-US" dirty="0">
                <a:latin typeface="Helvetica Neue"/>
                <a:cs typeface="Arial"/>
              </a:rPr>
              <a:t> </a:t>
            </a:r>
            <a:r>
              <a:rPr lang="en-US" dirty="0" err="1">
                <a:latin typeface="Helvetica Neue"/>
                <a:cs typeface="Arial"/>
              </a:rPr>
              <a:t>folgt</a:t>
            </a:r>
            <a:r>
              <a:rPr lang="en-US" dirty="0">
                <a:latin typeface="Helvetica Neue"/>
                <a:cs typeface="Arial"/>
              </a:rPr>
              <a:t> </a:t>
            </a:r>
            <a:r>
              <a:rPr lang="en-US" dirty="0" err="1">
                <a:latin typeface="Helvetica Neue"/>
                <a:cs typeface="Arial"/>
              </a:rPr>
              <a:t>vor</a:t>
            </a:r>
            <a:r>
              <a:rPr lang="en-US" dirty="0">
                <a:latin typeface="Helvetica Neue"/>
                <a:cs typeface="Arial"/>
              </a:rPr>
              <a:t>:</a:t>
            </a:r>
            <a:endParaRPr lang="en-US" dirty="0">
              <a:latin typeface="Helvetica Neue"/>
            </a:endParaRPr>
          </a:p>
          <a:p>
            <a:pPr>
              <a:buFont typeface="Arial"/>
              <a:buChar char="•"/>
            </a:pPr>
            <a:endParaRPr lang="en-US" dirty="0">
              <a:latin typeface="Helvetica Neue"/>
              <a:cs typeface="Arial"/>
            </a:endParaRP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9C7EE-7250-BE56-ABA9-6FBEA6657C97}"/>
              </a:ext>
            </a:extLst>
          </p:cNvPr>
          <p:cNvSpPr txBox="1"/>
          <p:nvPr/>
        </p:nvSpPr>
        <p:spPr>
          <a:xfrm>
            <a:off x="10820400" y="6622038"/>
            <a:ext cx="27432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defTabSz="2438338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CH">
                <a:latin typeface="Frutiger LT 45 Light"/>
              </a:rPr>
              <a:t>»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A04C9-B514-F98C-0856-A083124DC4B4}"/>
              </a:ext>
            </a:extLst>
          </p:cNvPr>
          <p:cNvSpPr txBox="1"/>
          <p:nvPr/>
        </p:nvSpPr>
        <p:spPr>
          <a:xfrm>
            <a:off x="10820400" y="6622038"/>
            <a:ext cx="27432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defTabSz="2438338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CH">
                <a:latin typeface="Frutiger LT 45 Light"/>
              </a:rPr>
              <a:t>»</a:t>
            </a:r>
            <a:endParaRPr lang="en-US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61EC1DB0-3ADD-0AC8-52E1-9F3017EB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19" y="5969750"/>
            <a:ext cx="9219029" cy="3490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F64F6C8-E59E-11CB-45A1-C13FDCB29194}"/>
              </a:ext>
            </a:extLst>
          </p:cNvPr>
          <p:cNvSpPr txBox="1"/>
          <p:nvPr/>
        </p:nvSpPr>
        <p:spPr>
          <a:xfrm>
            <a:off x="1206500" y="11158488"/>
            <a:ext cx="5843239" cy="14568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de-DE" sz="4400" dirty="0">
                <a:solidFill>
                  <a:srgbClr val="5E5E5E"/>
                </a:solidFill>
              </a:rPr>
              <a:t>1. Klick auf “Speicher-Icon“ 💾</a:t>
            </a:r>
            <a:endParaRPr kumimoji="0" lang="de-DE" sz="4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8BAEBB4-7834-42CD-0FC3-25C0D024C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108" y="4362366"/>
            <a:ext cx="8203687" cy="65705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Pfeil nach rechts 18">
            <a:extLst>
              <a:ext uri="{FF2B5EF4-FFF2-40B4-BE49-F238E27FC236}">
                <a16:creationId xmlns:a16="http://schemas.microsoft.com/office/drawing/2014/main" id="{18271B4F-2953-D15B-CF20-F0133C64EF7A}"/>
              </a:ext>
            </a:extLst>
          </p:cNvPr>
          <p:cNvSpPr/>
          <p:nvPr/>
        </p:nvSpPr>
        <p:spPr>
          <a:xfrm rot="16200000">
            <a:off x="4276427" y="8675735"/>
            <a:ext cx="4451012" cy="514494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Pfeil nach rechts 19">
            <a:extLst>
              <a:ext uri="{FF2B5EF4-FFF2-40B4-BE49-F238E27FC236}">
                <a16:creationId xmlns:a16="http://schemas.microsoft.com/office/drawing/2014/main" id="{C073E12A-77A3-10A4-00D3-304E6BB4E7D2}"/>
              </a:ext>
            </a:extLst>
          </p:cNvPr>
          <p:cNvSpPr/>
          <p:nvPr/>
        </p:nvSpPr>
        <p:spPr>
          <a:xfrm rot="19610816">
            <a:off x="11916348" y="10426274"/>
            <a:ext cx="4451012" cy="514494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86DA351-E3CB-74C2-A9AA-0464960A3527}"/>
              </a:ext>
            </a:extLst>
          </p:cNvPr>
          <p:cNvSpPr txBox="1"/>
          <p:nvPr/>
        </p:nvSpPr>
        <p:spPr>
          <a:xfrm>
            <a:off x="8612459" y="11224862"/>
            <a:ext cx="5843239" cy="14568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de-DE" sz="4400" dirty="0">
                <a:solidFill>
                  <a:srgbClr val="5E5E5E"/>
                </a:solidFill>
              </a:rPr>
              <a:t>2. Dateiname eingeben</a:t>
            </a:r>
            <a:endParaRPr kumimoji="0" lang="de-DE" sz="4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1" name="Pfeil nach rechts 20">
            <a:extLst>
              <a:ext uri="{FF2B5EF4-FFF2-40B4-BE49-F238E27FC236}">
                <a16:creationId xmlns:a16="http://schemas.microsoft.com/office/drawing/2014/main" id="{D35C5D77-D09F-7AAE-3A4D-0B26575A3567}"/>
              </a:ext>
            </a:extLst>
          </p:cNvPr>
          <p:cNvSpPr/>
          <p:nvPr/>
        </p:nvSpPr>
        <p:spPr>
          <a:xfrm rot="16200000">
            <a:off x="20768523" y="11184222"/>
            <a:ext cx="1397195" cy="466304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7EDE096-6D2B-5CE3-8CB8-0BC23E0ABB05}"/>
              </a:ext>
            </a:extLst>
          </p:cNvPr>
          <p:cNvSpPr txBox="1"/>
          <p:nvPr/>
        </p:nvSpPr>
        <p:spPr>
          <a:xfrm>
            <a:off x="17035949" y="11497041"/>
            <a:ext cx="6738449" cy="7797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de-DE" sz="4400" dirty="0">
                <a:solidFill>
                  <a:srgbClr val="5E5E5E"/>
                </a:solidFill>
              </a:rPr>
              <a:t>3. Klick auf „Speichern „</a:t>
            </a:r>
            <a:endParaRPr kumimoji="0" lang="de-DE" sz="4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C0F352-0664-6D7D-8036-9D205D40E1E9}"/>
              </a:ext>
            </a:extLst>
          </p:cNvPr>
          <p:cNvSpPr/>
          <p:nvPr/>
        </p:nvSpPr>
        <p:spPr>
          <a:xfrm>
            <a:off x="6142423" y="6053368"/>
            <a:ext cx="670615" cy="737726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516450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416105-C65C-62AF-3FB8-ADD0E649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Layout: Word einrichten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485780-039F-8D20-864E-DAA7C93552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B1C6B7-F1FE-0D6E-3330-46DDDF62D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de-CH" dirty="0"/>
              <a:t>Erstellen Sie eine Kopfzeile, in der Sie Ihren Vornamen und Namen notieren.</a:t>
            </a:r>
          </a:p>
          <a:p>
            <a:pPr lvl="0"/>
            <a:r>
              <a:rPr lang="de-CH" dirty="0"/>
              <a:t>Erstellen Sie eine Fusszeile, in der Sie Seitenzahlen einfügen. </a:t>
            </a:r>
          </a:p>
          <a:p>
            <a:pPr lvl="0"/>
            <a:r>
              <a:rPr lang="de-CH" dirty="0"/>
              <a:t>Richten Sie rechts einen Rand von 4 Zentimetern ein («Layout»).</a:t>
            </a:r>
          </a:p>
          <a:p>
            <a:r>
              <a:rPr lang="de-CH" dirty="0"/>
              <a:t> Schriftart: Arial, Schriftgrösse 11 bzw. die von Ihrer Lehrperson gewünschte Schriftart und Schriftgrösse</a:t>
            </a:r>
          </a:p>
          <a:p>
            <a:r>
              <a:rPr lang="de-CH" dirty="0"/>
              <a:t>Zeilenabstand 1.5</a:t>
            </a:r>
          </a:p>
        </p:txBody>
      </p:sp>
    </p:spTree>
    <p:extLst>
      <p:ext uri="{BB962C8B-B14F-4D97-AF65-F5344CB8AC3E}">
        <p14:creationId xmlns:p14="http://schemas.microsoft.com/office/powerpoint/2010/main" val="343411069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10. Aufsatz Schreib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CH" dirty="0"/>
              <a:t>9</a:t>
            </a:r>
            <a:r>
              <a:rPr dirty="0"/>
              <a:t>. </a:t>
            </a:r>
            <a:r>
              <a:rPr dirty="0" err="1"/>
              <a:t>Aufsatz</a:t>
            </a:r>
            <a:r>
              <a:rPr dirty="0"/>
              <a:t> </a:t>
            </a:r>
            <a:r>
              <a:rPr lang="de-CH" dirty="0"/>
              <a:t>s</a:t>
            </a:r>
            <a:r>
              <a:rPr dirty="0" err="1"/>
              <a:t>chreiben</a:t>
            </a:r>
            <a:endParaRPr dirty="0"/>
          </a:p>
        </p:txBody>
      </p:sp>
      <p:sp>
        <p:nvSpPr>
          <p:cNvPr id="199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0" name="Schreiben Sie den Aufsatz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Schreiben</a:t>
            </a:r>
            <a:r>
              <a:rPr dirty="0"/>
              <a:t> Sie den </a:t>
            </a:r>
            <a:r>
              <a:rPr lang="en-US" dirty="0" err="1"/>
              <a:t>Aufsatz</a:t>
            </a:r>
            <a:r>
              <a:rPr lang="en-US" dirty="0"/>
              <a:t>.</a:t>
            </a:r>
            <a:endParaRPr dirty="0"/>
          </a:p>
          <a:p>
            <a:r>
              <a:rPr lang="en-US" dirty="0" err="1"/>
              <a:t>Speichern</a:t>
            </a:r>
            <a:r>
              <a:rPr dirty="0"/>
              <a:t> Sie </a:t>
            </a:r>
            <a:r>
              <a:rPr lang="de-CH" dirty="0"/>
              <a:t>regelmässig,</a:t>
            </a:r>
            <a:r>
              <a:rPr dirty="0"/>
              <a:t> </a:t>
            </a:r>
            <a:r>
              <a:rPr dirty="0" err="1"/>
              <a:t>indem</a:t>
            </a:r>
            <a:r>
              <a:rPr dirty="0"/>
              <a:t> Sie auf das </a:t>
            </a:r>
            <a:r>
              <a:rPr lang="de-CH" dirty="0"/>
              <a:t>«</a:t>
            </a:r>
            <a:r>
              <a:rPr dirty="0"/>
              <a:t>Diskette</a:t>
            </a:r>
            <a:r>
              <a:rPr lang="de-CH" dirty="0">
                <a:latin typeface="Frutiger LT 45 Light" panose="020B0403030504020204" pitchFamily="34" charset="0"/>
              </a:rPr>
              <a:t>»-</a:t>
            </a:r>
            <a:r>
              <a:rPr dirty="0"/>
              <a:t>Symbol </a:t>
            </a:r>
            <a:r>
              <a:rPr lang="de-CH" dirty="0"/>
              <a:t>💾 </a:t>
            </a:r>
            <a:r>
              <a:rPr lang="en-US" dirty="0" err="1"/>
              <a:t>klicken</a:t>
            </a:r>
            <a:r>
              <a:rPr dirty="0"/>
              <a:t>: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9BBBF22-F31E-A26B-109C-3780E7553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17" y="8957526"/>
            <a:ext cx="14544508" cy="37783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3EE0190B-B605-17CC-A72D-9889BBD85D55}"/>
              </a:ext>
            </a:extLst>
          </p:cNvPr>
          <p:cNvSpPr/>
          <p:nvPr/>
        </p:nvSpPr>
        <p:spPr>
          <a:xfrm rot="6710059">
            <a:off x="8164820" y="7932302"/>
            <a:ext cx="2273218" cy="481157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11. Word schliess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1</a:t>
            </a:r>
            <a:r>
              <a:rPr lang="de-CH" dirty="0"/>
              <a:t>0</a:t>
            </a:r>
            <a:r>
              <a:rPr dirty="0"/>
              <a:t>. </a:t>
            </a:r>
            <a:r>
              <a:rPr lang="en-US" dirty="0" err="1"/>
              <a:t>Aufsatz</a:t>
            </a:r>
            <a:r>
              <a:rPr lang="en-US" dirty="0"/>
              <a:t> </a:t>
            </a:r>
            <a:r>
              <a:rPr lang="en-US" dirty="0" err="1"/>
              <a:t>beenden</a:t>
            </a:r>
            <a:endParaRPr lang="en-US" dirty="0"/>
          </a:p>
        </p:txBody>
      </p:sp>
      <p:sp>
        <p:nvSpPr>
          <p:cNvPr id="205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 lIns="45719" tIns="45719" rIns="45719" bIns="45719" anchor="t">
            <a:normAutofit/>
          </a:bodyPr>
          <a:lstStyle/>
          <a:p>
            <a:endParaRPr/>
          </a:p>
        </p:txBody>
      </p:sp>
      <p:sp>
        <p:nvSpPr>
          <p:cNvPr id="206" name="Wenn Sie fertig sind:…"/>
          <p:cNvSpPr txBox="1">
            <a:spLocks noGrp="1"/>
          </p:cNvSpPr>
          <p:nvPr>
            <p:ph type="body" idx="1"/>
          </p:nvPr>
        </p:nvSpPr>
        <p:spPr>
          <a:xfrm>
            <a:off x="1206500" y="3551274"/>
            <a:ext cx="21971000" cy="8953242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Arial"/>
                <a:cs typeface="Arial"/>
              </a:rPr>
              <a:t>Wenn</a:t>
            </a:r>
            <a:r>
              <a:rPr lang="en-US" dirty="0">
                <a:latin typeface="Arial"/>
                <a:cs typeface="Arial"/>
              </a:rPr>
              <a:t> Sie </a:t>
            </a:r>
            <a:r>
              <a:rPr lang="en-US" dirty="0" err="1">
                <a:latin typeface="Arial"/>
                <a:cs typeface="Arial"/>
              </a:rPr>
              <a:t>fertig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sind</a:t>
            </a:r>
            <a:r>
              <a:rPr lang="en-US" dirty="0">
                <a:latin typeface="Arial"/>
                <a:cs typeface="Arial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1. </a:t>
            </a:r>
            <a:r>
              <a:rPr lang="en-US" dirty="0" err="1">
                <a:latin typeface="Arial"/>
                <a:cs typeface="Arial"/>
              </a:rPr>
              <a:t>Notieren</a:t>
            </a:r>
            <a:r>
              <a:rPr lang="en-US" dirty="0">
                <a:latin typeface="Arial"/>
                <a:cs typeface="Arial"/>
              </a:rPr>
              <a:t> Sie am Ende des </a:t>
            </a:r>
            <a:r>
              <a:rPr lang="en-US" dirty="0" err="1">
                <a:latin typeface="Arial"/>
                <a:cs typeface="Arial"/>
              </a:rPr>
              <a:t>Textes</a:t>
            </a:r>
            <a:r>
              <a:rPr lang="en-US" dirty="0">
                <a:latin typeface="Arial"/>
                <a:cs typeface="Arial"/>
              </a:rPr>
              <a:t> die </a:t>
            </a:r>
            <a:r>
              <a:rPr lang="en-US" dirty="0" err="1">
                <a:latin typeface="Arial"/>
                <a:cs typeface="Arial"/>
              </a:rPr>
              <a:t>Anzahl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Wörter</a:t>
            </a:r>
            <a:r>
              <a:rPr lang="en-US" dirty="0">
                <a:latin typeface="Arial"/>
                <a:cs typeface="Arial"/>
              </a:rPr>
              <a:t> und </a:t>
            </a:r>
            <a:r>
              <a:rPr lang="en-US" dirty="0" err="1">
                <a:latin typeface="Arial"/>
                <a:cs typeface="Arial"/>
              </a:rPr>
              <a:t>Ihren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Vornamen</a:t>
            </a:r>
            <a:r>
              <a:rPr lang="en-US" dirty="0">
                <a:latin typeface="Arial"/>
                <a:cs typeface="Arial"/>
              </a:rPr>
              <a:t> und Namen. 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2. Sie </a:t>
            </a:r>
            <a:r>
              <a:rPr lang="en-US" dirty="0" err="1">
                <a:latin typeface="Arial"/>
                <a:cs typeface="Arial"/>
              </a:rPr>
              <a:t>speichern</a:t>
            </a:r>
            <a:r>
              <a:rPr lang="en-US" dirty="0">
                <a:latin typeface="Arial"/>
                <a:cs typeface="Arial"/>
              </a:rPr>
              <a:t> den Text </a:t>
            </a:r>
            <a:r>
              <a:rPr lang="en-US" dirty="0" err="1">
                <a:latin typeface="Arial"/>
                <a:cs typeface="Arial"/>
              </a:rPr>
              <a:t>ein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letztes</a:t>
            </a:r>
            <a:r>
              <a:rPr lang="en-US" dirty="0">
                <a:latin typeface="Arial"/>
                <a:cs typeface="Arial"/>
              </a:rPr>
              <a:t> Mal. 💾</a:t>
            </a:r>
            <a:endParaRPr lang="en-US" dirty="0"/>
          </a:p>
          <a:p>
            <a:pPr marL="0" lvl="1" indent="0">
              <a:buNone/>
            </a:pPr>
            <a:r>
              <a:rPr lang="de-CH" dirty="0"/>
              <a:t>3. Schliessen </a:t>
            </a:r>
            <a:r>
              <a:rPr dirty="0"/>
              <a:t>Sie Word</a:t>
            </a:r>
            <a:r>
              <a:rPr lang="en-US" dirty="0"/>
              <a:t>.</a:t>
            </a:r>
            <a:endParaRPr dirty="0"/>
          </a:p>
          <a:p>
            <a:pPr marL="0" lvl="1" indent="0">
              <a:buNone/>
            </a:pPr>
            <a:r>
              <a:rPr lang="de-CH" dirty="0"/>
              <a:t>4. </a:t>
            </a:r>
            <a:r>
              <a:rPr dirty="0" err="1"/>
              <a:t>Verlassen</a:t>
            </a:r>
            <a:r>
              <a:rPr dirty="0"/>
              <a:t> Sie den </a:t>
            </a:r>
            <a:r>
              <a:rPr dirty="0" err="1"/>
              <a:t>Vollbildmodus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60389E1-CD93-BB91-9C1F-7CE78E05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26" y="11075381"/>
            <a:ext cx="23207547" cy="535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Pfeil nach rechts 4">
            <a:extLst>
              <a:ext uri="{FF2B5EF4-FFF2-40B4-BE49-F238E27FC236}">
                <a16:creationId xmlns:a16="http://schemas.microsoft.com/office/drawing/2014/main" id="{4C82C17A-1935-9DBE-D1CD-56DBCF0E4A46}"/>
              </a:ext>
            </a:extLst>
          </p:cNvPr>
          <p:cNvSpPr/>
          <p:nvPr/>
        </p:nvSpPr>
        <p:spPr>
          <a:xfrm rot="4799478">
            <a:off x="19717480" y="9735297"/>
            <a:ext cx="2273218" cy="481157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59CA977-0A13-545D-0A50-F005D38A8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943" y="7671264"/>
            <a:ext cx="2377642" cy="12051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12. Abgebe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12. </a:t>
            </a:r>
            <a:r>
              <a:rPr dirty="0" err="1"/>
              <a:t>Abgeben</a:t>
            </a:r>
            <a:endParaRPr dirty="0"/>
          </a:p>
        </p:txBody>
      </p:sp>
      <p:sp>
        <p:nvSpPr>
          <p:cNvPr id="211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12" name="Laden Sie Ihren Text via Klick auf das “Wolke-Icon” in der Abgabe hoch: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12710222" cy="8256012"/>
          </a:xfrm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lang="de-CH" dirty="0"/>
              <a:t>Um Ihre Datei abzugeben…</a:t>
            </a:r>
          </a:p>
          <a:p>
            <a:pPr lvl="1"/>
            <a:r>
              <a:rPr lang="de-CH" dirty="0"/>
              <a:t>klicken Sie auf «Dateien auswählen»</a:t>
            </a:r>
          </a:p>
          <a:p>
            <a:pPr lvl="1"/>
            <a:r>
              <a:rPr lang="de-CH" dirty="0"/>
              <a:t>wählen Sie alle abzugebenden Dateien aus</a:t>
            </a:r>
          </a:p>
          <a:p>
            <a:pPr lvl="1"/>
            <a:r>
              <a:rPr lang="de-CH" dirty="0"/>
              <a:t>wählen Sie «Als Abgabe übernehmen»</a:t>
            </a:r>
            <a:endParaRPr dirty="0"/>
          </a:p>
          <a:p>
            <a:r>
              <a:rPr dirty="0"/>
              <a:t>Falls </a:t>
            </a:r>
            <a:r>
              <a:rPr dirty="0" err="1"/>
              <a:t>Ihr</a:t>
            </a:r>
            <a:r>
              <a:rPr dirty="0"/>
              <a:t> Text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erscheint</a:t>
            </a:r>
            <a:r>
              <a:rPr dirty="0"/>
              <a:t>, </a:t>
            </a:r>
            <a:r>
              <a:rPr dirty="0" err="1"/>
              <a:t>wählen</a:t>
            </a:r>
            <a:r>
              <a:rPr dirty="0"/>
              <a:t> Sie </a:t>
            </a:r>
            <a:r>
              <a:rPr lang="de-CH" dirty="0"/>
              <a:t>«</a:t>
            </a:r>
            <a:r>
              <a:rPr dirty="0" err="1"/>
              <a:t>aktualisieren</a:t>
            </a:r>
            <a:r>
              <a:rPr lang="de-CH" dirty="0">
                <a:latin typeface="Frutiger LT 45 Light" panose="020B0403030504020204" pitchFamily="34" charset="0"/>
              </a:rPr>
              <a:t>».</a:t>
            </a:r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23C2A88-24FE-FDCC-BA70-409747713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102" y="7449100"/>
            <a:ext cx="7610398" cy="6393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55F3B2C-3D31-56C4-F6D9-8C3AD805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229" y="466224"/>
            <a:ext cx="8222474" cy="64446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Pfeil nach rechts 4">
            <a:extLst>
              <a:ext uri="{FF2B5EF4-FFF2-40B4-BE49-F238E27FC236}">
                <a16:creationId xmlns:a16="http://schemas.microsoft.com/office/drawing/2014/main" id="{017109F9-DAB9-7723-4F1A-F636CEBFD1A1}"/>
              </a:ext>
            </a:extLst>
          </p:cNvPr>
          <p:cNvSpPr/>
          <p:nvPr/>
        </p:nvSpPr>
        <p:spPr>
          <a:xfrm rot="760563">
            <a:off x="19410555" y="5096824"/>
            <a:ext cx="2273218" cy="481157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061E0008-9438-8E0C-D284-55529194B557}"/>
              </a:ext>
            </a:extLst>
          </p:cNvPr>
          <p:cNvSpPr/>
          <p:nvPr/>
        </p:nvSpPr>
        <p:spPr>
          <a:xfrm rot="760563">
            <a:off x="13941811" y="11102459"/>
            <a:ext cx="2273218" cy="481157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22F2206E-D337-A21D-7EF1-33DC119DF1D6}"/>
              </a:ext>
            </a:extLst>
          </p:cNvPr>
          <p:cNvSpPr/>
          <p:nvPr/>
        </p:nvSpPr>
        <p:spPr>
          <a:xfrm rot="760563">
            <a:off x="14940734" y="12768441"/>
            <a:ext cx="1252736" cy="45197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748D3825-2F91-A555-F8CF-D9727B0A6B90}"/>
              </a:ext>
            </a:extLst>
          </p:cNvPr>
          <p:cNvSpPr/>
          <p:nvPr/>
        </p:nvSpPr>
        <p:spPr>
          <a:xfrm rot="7087198">
            <a:off x="22056599" y="12236158"/>
            <a:ext cx="1252736" cy="451978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21F41B1-4804-BBDC-4FB0-C5D3B790E9B7}"/>
              </a:ext>
            </a:extLst>
          </p:cNvPr>
          <p:cNvSpPr txBox="1"/>
          <p:nvPr/>
        </p:nvSpPr>
        <p:spPr>
          <a:xfrm>
            <a:off x="23030824" y="30207"/>
            <a:ext cx="931757" cy="87203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50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7FC1CA0-E5FF-EAFB-F30E-62FFB67DB43E}"/>
              </a:ext>
            </a:extLst>
          </p:cNvPr>
          <p:cNvSpPr txBox="1"/>
          <p:nvPr/>
        </p:nvSpPr>
        <p:spPr>
          <a:xfrm>
            <a:off x="22846191" y="7088125"/>
            <a:ext cx="931757" cy="87203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5000" dirty="0">
                <a:solidFill>
                  <a:srgbClr val="5E5E5E"/>
                </a:solidFill>
              </a:rPr>
              <a:t>2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13. Abschlu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13. Abschluss</a:t>
            </a:r>
          </a:p>
        </p:txBody>
      </p:sp>
      <p:sp>
        <p:nvSpPr>
          <p:cNvPr id="218" name="Folien-Untertitel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" name="Wählen Sie “Abgeben” und beenden Sie somit die Probe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dirty="0" err="1"/>
              <a:t>Wählen</a:t>
            </a:r>
            <a:r>
              <a:rPr dirty="0"/>
              <a:t> Sie </a:t>
            </a:r>
            <a:r>
              <a:rPr lang="de-CH" dirty="0"/>
              <a:t>«</a:t>
            </a:r>
            <a:r>
              <a:rPr dirty="0" err="1"/>
              <a:t>Abgeben</a:t>
            </a:r>
            <a:r>
              <a:rPr lang="de-CH" dirty="0">
                <a:latin typeface="Frutiger LT 45 Light"/>
              </a:rPr>
              <a:t>»</a:t>
            </a:r>
            <a:r>
              <a:rPr dirty="0"/>
              <a:t> und </a:t>
            </a:r>
            <a:r>
              <a:rPr dirty="0" err="1"/>
              <a:t>beenden</a:t>
            </a:r>
            <a:r>
              <a:rPr dirty="0"/>
              <a:t> Sie die </a:t>
            </a:r>
            <a:r>
              <a:rPr dirty="0" err="1"/>
              <a:t>Pr</a:t>
            </a:r>
            <a:r>
              <a:rPr lang="de-DE" dirty="0" err="1"/>
              <a:t>üfung</a:t>
            </a:r>
            <a:r>
              <a:rPr dirty="0"/>
              <a:t>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7EE995-CC2F-1303-4DE8-F9D412DF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595" y="5377939"/>
            <a:ext cx="16700810" cy="80673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Pfeil nach rechts 2">
            <a:extLst>
              <a:ext uri="{FF2B5EF4-FFF2-40B4-BE49-F238E27FC236}">
                <a16:creationId xmlns:a16="http://schemas.microsoft.com/office/drawing/2014/main" id="{B6E2662C-C7F0-3F1F-9F22-A39BBA75064A}"/>
              </a:ext>
            </a:extLst>
          </p:cNvPr>
          <p:cNvSpPr/>
          <p:nvPr/>
        </p:nvSpPr>
        <p:spPr>
          <a:xfrm rot="20308716">
            <a:off x="17175666" y="6423221"/>
            <a:ext cx="2273218" cy="481157"/>
          </a:xfrm>
          <a:prstGeom prst="rightArrow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40C87F1C66B4447BE89498F026A2257" ma:contentTypeVersion="12" ma:contentTypeDescription="Ein neues Dokument erstellen." ma:contentTypeScope="" ma:versionID="feb9140b737a4739b1ee0e9f7b4cf4a7">
  <xsd:schema xmlns:xsd="http://www.w3.org/2001/XMLSchema" xmlns:xs="http://www.w3.org/2001/XMLSchema" xmlns:p="http://schemas.microsoft.com/office/2006/metadata/properties" xmlns:ns2="27002b4c-0a43-4b2a-ad7d-d1a4d1018932" xmlns:ns3="d3c82d97-afce-41c4-9885-6066b3857d92" targetNamespace="http://schemas.microsoft.com/office/2006/metadata/properties" ma:root="true" ma:fieldsID="9df6c3d094f7670745cd0b4dd35bb722" ns2:_="" ns3:_="">
    <xsd:import namespace="27002b4c-0a43-4b2a-ad7d-d1a4d1018932"/>
    <xsd:import namespace="d3c82d97-afce-41c4-9885-6066b3857d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002b4c-0a43-4b2a-ad7d-d1a4d10189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a3cb5301-211e-4859-b933-72f6c1e915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c82d97-afce-41c4-9885-6066b3857d9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1c8e912-46ab-4cae-9e8c-ec817e711038}" ma:internalName="TaxCatchAll" ma:showField="CatchAllData" ma:web="d3c82d97-afce-41c4-9885-6066b3857d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002b4c-0a43-4b2a-ad7d-d1a4d1018932">
      <Terms xmlns="http://schemas.microsoft.com/office/infopath/2007/PartnerControls"/>
    </lcf76f155ced4ddcb4097134ff3c332f>
    <TaxCatchAll xmlns="d3c82d97-afce-41c4-9885-6066b3857d92" xsi:nil="true"/>
  </documentManagement>
</p:properties>
</file>

<file path=customXml/itemProps1.xml><?xml version="1.0" encoding="utf-8"?>
<ds:datastoreItem xmlns:ds="http://schemas.openxmlformats.org/officeDocument/2006/customXml" ds:itemID="{A9245EEF-B556-4B9F-9924-C58EF9A54C7B}"/>
</file>

<file path=customXml/itemProps2.xml><?xml version="1.0" encoding="utf-8"?>
<ds:datastoreItem xmlns:ds="http://schemas.openxmlformats.org/officeDocument/2006/customXml" ds:itemID="{3DA17C3E-993D-4A7D-934B-CE646658F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2AA7B0-6588-48CD-973D-DC53D281AEC5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3c82d97-afce-41c4-9885-6066b3857d92"/>
    <ds:schemaRef ds:uri="27002b4c-0a43-4b2a-ad7d-d1a4d1018932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Benutzerdefiniert</PresentationFormat>
  <Paragraphs>63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Frutiger LT 45 Light</vt:lpstr>
      <vt:lpstr>Helvetica Neue</vt:lpstr>
      <vt:lpstr>Helvetica Neue Medium</vt:lpstr>
      <vt:lpstr>21_BasicWhite</vt:lpstr>
      <vt:lpstr>Aufsatz mit «smartlearn»</vt:lpstr>
      <vt:lpstr>1. «smartlearn» aufrufen</vt:lpstr>
      <vt:lpstr>2. Anmeldung</vt:lpstr>
      <vt:lpstr>3. Probe aufrufen</vt:lpstr>
      <vt:lpstr>4. Safe Exam Browser starten</vt:lpstr>
      <vt:lpstr>5. Prüfung starten (1)</vt:lpstr>
      <vt:lpstr>5. Prüfung starten (2)</vt:lpstr>
      <vt:lpstr>6. In Vollbildmodus wechseln</vt:lpstr>
      <vt:lpstr>7. Word starten</vt:lpstr>
      <vt:lpstr>8. Neues Dokument erstellen und speichern</vt:lpstr>
      <vt:lpstr>Layout: Word einrichten</vt:lpstr>
      <vt:lpstr>9. Aufsatz schreiben</vt:lpstr>
      <vt:lpstr>10. Aufsatz beenden</vt:lpstr>
      <vt:lpstr>12. Abgeben</vt:lpstr>
      <vt:lpstr>13. Abschluss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Matura-Aufsatz mit Smartlearn</dc:title>
  <dc:creator>Christina Gsell Müller</dc:creator>
  <cp:lastModifiedBy>Christina Gsell Müller</cp:lastModifiedBy>
  <cp:revision>21</cp:revision>
  <dcterms:modified xsi:type="dcterms:W3CDTF">2026-01-15T08:50:10Z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0x010100940C87F1C66B4447BE89498F026A2257</vt:lpwstr>
  </property>
  <property fmtid="{D5CDD505-2E9C-101B-9397-08002B2CF9AE}" pid="3" name="MediaServiceImageTags">
    <vt:lpwstr/>
  </property>
</Properties>
</file>